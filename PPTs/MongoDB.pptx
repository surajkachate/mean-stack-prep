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7" r:id="rId6"/>
    <p:sldId id="259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6AF3E-3296-3C56-8F4A-717382C5B6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1FBCC-FADF-1FAD-2061-341CFBD66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BA873-F0CE-8273-99BC-E3F1D5EA8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E2FC4-A07E-D4E6-66A5-1C041A42F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9DC0C-6967-3404-1F68-07BB7AA11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12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1B941-C326-987D-2F69-A969E36FC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58890-9B38-1C22-8191-FD09E2622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137E3-3D94-3794-34A4-66E1C48D7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76B1E-0C0F-8852-5A33-5BFA29A7A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28CF3-1481-29C8-4F17-E8DA9FBB6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64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C6D0-D241-839D-E1C1-99EA3AC18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73E90-BCCD-928D-C5AA-7AB8BFED9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D9379-5B5D-0CDF-5CA6-AA84B3D0C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2B7D4-935B-AE18-71A9-BF85253F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96BF9-DA0B-FDC0-3650-2538BC34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09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B6255-F594-65D8-207A-707B696D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8BD00-77EE-48FF-8224-615426A90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634A3-6765-5925-B92A-10394CEF6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1AD4D-0C83-F26D-566A-C0F76F1B0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E7D4A-427B-1E4F-DF9A-C07A604BF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27DF6-9A66-F778-9B50-A954BCF4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20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87BA-5B45-F0EB-2DA5-5B8CAD5CB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50817-B995-A529-50D5-4ED09A285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9B164-55A3-5119-6B2A-0B5688BEF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E90FD-4D84-44DD-E6B7-A652CEACA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420A5B-6297-A2E8-46C3-31BD184865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C062B2-EA37-6042-A0B8-A3AD7DA29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355F8E-2387-0D9F-BD33-A668A6958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A1DE62-2869-8639-8015-C4E93EE0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0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CDA0-E47C-D82B-633F-41C413171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E5AE3-F356-1EE6-C242-95481D02A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45A89E-66FB-F141-068F-5FBCF56E9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10239-5EEC-793D-73FA-D33E7B471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98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CE9FCA-4123-CECA-0C88-4ED9AF0BD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6CA4A1-36CD-E32D-24B7-D69427684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71CB0-7E3B-8720-5940-44228B0EE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36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41CEC-6D01-81BA-9FBD-29849157F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BA866-601F-00D8-19C0-60F05ABD8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D29D0-84BB-FF62-846C-F5A355C8A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E1B642-AD71-631A-7F72-C4EFF077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31CD9-2295-67F8-33E7-E011F9E83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C1B9E-66B4-AA05-5DCB-6013757A4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302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4F649-E39E-E8E8-3ED9-7391A822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51132-0887-67A2-1CD4-AABA5E80D8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1F753-B24A-0CE9-A75A-E36D69494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9AB6F-1F95-CA63-C370-BC60B0557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8A72D-504C-B065-FFFC-1355E7294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1B284-8680-D62B-D09D-1AAFB487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3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4AE82-D771-91A9-ECE3-5F8C65F8F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C3A964-4A0A-17B3-7D47-B11CFE37B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DC0D1-6095-FFD2-E56F-A8554A9AD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C7E54-2881-3085-1036-B68381507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69A36-70E2-2638-AB0D-E74ECD7F5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83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3869BB-F6CD-F362-4051-E72DBBA627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711E40-1FEF-8BF1-B07C-358FF4D6B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6D5F7-5E3C-1EDE-A141-957814D56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18382-F1B5-F528-96FB-8C3639C4E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238CC-28AC-686F-C380-EB4396D8D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38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EE3E1F-9BCD-0DC9-5122-F106E351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4B781-37E3-1E96-4484-771E87C20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ACEA2-1450-9C69-181E-EE1EF76A7F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35589-3AC8-E702-3D26-2460818D84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9FDCC-FE29-867A-04C9-A0F2FBA53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34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mongodb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AC0BB-AC5E-D81F-3D23-30A23ADF2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2564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MongoDB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166607-C037-919B-6A83-1ED52EDF6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92437"/>
            <a:ext cx="9144000" cy="2133599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 Introduction to NoSQL databases,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Installation and configuration of MongoDB,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CRUD operations in MongoDB,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Indexing and querying in MongoDB,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Schema design and data modeling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3877186C-FAE5-22C8-8F02-B847AEEDD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6398" y="3897311"/>
            <a:ext cx="37052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0978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2B280-9A0C-EEEF-33C8-1B2FC0476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Introduction to NoSQL databases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9A123A-1F96-88E8-CE52-DE4CCCE91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690688"/>
            <a:ext cx="10515601" cy="491865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Traditional web apps used relational databases (SQL) for data storage.</a:t>
            </a:r>
          </a:p>
          <a:p>
            <a:r>
              <a:rPr lang="en-US" dirty="0"/>
              <a:t>Data stored in normalized tables connected via primary–foreign key relationships.</a:t>
            </a:r>
          </a:p>
          <a:p>
            <a:r>
              <a:rPr lang="en-US" dirty="0"/>
              <a:t>As web apps scaled, performance and availability issues arose.</a:t>
            </a:r>
          </a:p>
          <a:p>
            <a:r>
              <a:rPr lang="en-US" dirty="0"/>
              <a:t>To solve this, NoSQL databases emerged — designed for:</a:t>
            </a:r>
          </a:p>
          <a:p>
            <a:pPr lvl="1"/>
            <a:r>
              <a:rPr lang="en-US" dirty="0"/>
              <a:t>High availability</a:t>
            </a:r>
          </a:p>
          <a:p>
            <a:pPr lvl="1"/>
            <a:r>
              <a:rPr lang="en-US" dirty="0"/>
              <a:t>Simple querying</a:t>
            </a:r>
          </a:p>
          <a:p>
            <a:pPr lvl="1"/>
            <a:r>
              <a:rPr lang="en-US" dirty="0"/>
              <a:t>Horizontal scaling</a:t>
            </a:r>
          </a:p>
          <a:p>
            <a:r>
              <a:rPr lang="en-US" dirty="0"/>
              <a:t>NoSQL types include:</a:t>
            </a:r>
          </a:p>
          <a:p>
            <a:pPr lvl="1"/>
            <a:r>
              <a:rPr lang="en-US" dirty="0"/>
              <a:t>Key-value stores</a:t>
            </a:r>
          </a:p>
          <a:p>
            <a:pPr lvl="1"/>
            <a:r>
              <a:rPr lang="en-US" dirty="0"/>
              <a:t>Column stores</a:t>
            </a:r>
          </a:p>
          <a:p>
            <a:pPr lvl="1"/>
            <a:r>
              <a:rPr lang="en-US" dirty="0"/>
              <a:t>Object stores</a:t>
            </a:r>
          </a:p>
          <a:p>
            <a:pPr lvl="1"/>
            <a:r>
              <a:rPr lang="en-US" dirty="0"/>
              <a:t>Document stores (most popular)</a:t>
            </a:r>
          </a:p>
        </p:txBody>
      </p:sp>
    </p:spTree>
    <p:extLst>
      <p:ext uri="{BB962C8B-B14F-4D97-AF65-F5344CB8AC3E}">
        <p14:creationId xmlns:p14="http://schemas.microsoft.com/office/powerpoint/2010/main" val="1043734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CCB19-9188-3B1A-D359-B243C35E2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CC876-F023-AE93-E4F7-A1878244E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06" y="705853"/>
            <a:ext cx="6914147" cy="5743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Introduction to MongoDB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MongoDB is a document-oriented NoSQL database.</a:t>
            </a:r>
          </a:p>
          <a:p>
            <a:r>
              <a:rPr lang="en-US" dirty="0"/>
              <a:t>Data is stored as JSON-like documents instead of tables.</a:t>
            </a:r>
          </a:p>
          <a:p>
            <a:r>
              <a:rPr lang="en-US" dirty="0"/>
              <a:t>Each document can store complex, hierarchical data.</a:t>
            </a:r>
          </a:p>
          <a:p>
            <a:r>
              <a:rPr lang="en-US" dirty="0"/>
              <a:t>Example: A blog post and its comments can be stored in one JSON document rather than multiple SQL tables.</a:t>
            </a:r>
          </a:p>
        </p:txBody>
      </p:sp>
      <p:pic>
        <p:nvPicPr>
          <p:cNvPr id="2050" name="Picture 2" descr="There's a New Compass and It Comes With ...">
            <a:extLst>
              <a:ext uri="{FF2B5EF4-FFF2-40B4-BE49-F238E27FC236}">
                <a16:creationId xmlns:a16="http://schemas.microsoft.com/office/drawing/2014/main" id="{A66B7665-4A39-982F-A3CD-87DCB1D81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101" y="1748589"/>
            <a:ext cx="4216279" cy="256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414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6B6DF-AFB8-294A-BF45-40D513B28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33925-3D01-63E5-67D3-EAF820E7E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80" y="577516"/>
            <a:ext cx="10475494" cy="58714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Advantages of Document Databases (like MongoDB)</a:t>
            </a:r>
          </a:p>
          <a:p>
            <a:r>
              <a:rPr lang="en-US" dirty="0"/>
              <a:t>Faster reads – no need to join tables or rebuild objects.</a:t>
            </a:r>
          </a:p>
          <a:p>
            <a:r>
              <a:rPr lang="en-US" dirty="0" err="1"/>
              <a:t>Schemaless</a:t>
            </a:r>
            <a:r>
              <a:rPr lang="en-US" dirty="0"/>
              <a:t> – allows flexible data structures:</a:t>
            </a:r>
          </a:p>
          <a:p>
            <a:pPr lvl="1"/>
            <a:r>
              <a:rPr lang="en-US" dirty="0"/>
              <a:t>Different documents can have different fields.</a:t>
            </a:r>
          </a:p>
          <a:p>
            <a:pPr lvl="1"/>
            <a:r>
              <a:rPr lang="en-US" dirty="0"/>
              <a:t>Easy to add new properties without altering the schema.</a:t>
            </a:r>
          </a:p>
          <a:p>
            <a:r>
              <a:rPr lang="en-US" dirty="0"/>
              <a:t>Ideal for dynamic or evolving data models.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Example Use Case</a:t>
            </a:r>
          </a:p>
          <a:p>
            <a:r>
              <a:rPr lang="en-US" dirty="0"/>
              <a:t>In an e-commerce app, products like chairs and closets can have different attributes.</a:t>
            </a:r>
          </a:p>
          <a:p>
            <a:r>
              <a:rPr lang="en-US" dirty="0"/>
              <a:t>MongoDB allows both to exist in the same collection without empty columns or complex key-value tables.</a:t>
            </a:r>
          </a:p>
        </p:txBody>
      </p:sp>
    </p:spTree>
    <p:extLst>
      <p:ext uri="{BB962C8B-B14F-4D97-AF65-F5344CB8AC3E}">
        <p14:creationId xmlns:p14="http://schemas.microsoft.com/office/powerpoint/2010/main" val="289080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67BBD-391A-8D5D-78DF-EC3426F84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34A7D-33C8-EE6D-609E-86ABCD574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Installation and configuration of MongoDB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762036-2208-1EAA-B936-B2E6C5206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Installing MongoDB 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MongoDB: The World’s Leading Modern Database | MongoDB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Installing MongoDB on Windows </a:t>
            </a:r>
          </a:p>
          <a:p>
            <a:r>
              <a:rPr lang="en-US" dirty="0"/>
              <a:t>Running MongoDB manually</a:t>
            </a:r>
          </a:p>
          <a:p>
            <a:r>
              <a:rPr lang="en-US" dirty="0"/>
              <a:t>Running MongoDB as a Windows Service</a:t>
            </a:r>
          </a:p>
          <a:p>
            <a:pPr marL="0" indent="0">
              <a:buNone/>
            </a:pPr>
            <a:r>
              <a:rPr lang="en-US" dirty="0"/>
              <a:t>Installing MongoDB on Mac OS X and Linux</a:t>
            </a:r>
          </a:p>
          <a:p>
            <a:r>
              <a:rPr lang="en-US" dirty="0"/>
              <a:t>Installing MongoDB from binaries</a:t>
            </a:r>
          </a:p>
          <a:p>
            <a:r>
              <a:rPr lang="en-US" dirty="0"/>
              <a:t>Install MongoDB using a package manager </a:t>
            </a:r>
          </a:p>
          <a:p>
            <a:pPr marL="0" indent="0">
              <a:buNone/>
            </a:pPr>
            <a:r>
              <a:rPr lang="en-US" dirty="0"/>
              <a:t>Using the MongoDB shell</a:t>
            </a:r>
          </a:p>
        </p:txBody>
      </p:sp>
      <p:pic>
        <p:nvPicPr>
          <p:cNvPr id="1026" name="Picture 2" descr="How To Use the MongoDB Shell - GeeksforGeeks">
            <a:extLst>
              <a:ext uri="{FF2B5EF4-FFF2-40B4-BE49-F238E27FC236}">
                <a16:creationId xmlns:a16="http://schemas.microsoft.com/office/drawing/2014/main" id="{45BAFAD2-B5C1-C072-F80E-6DC49F230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105" y="3429000"/>
            <a:ext cx="4022558" cy="2141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529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81BC8-F27A-42DF-528E-7F5FE054F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72BA6-F41A-AFDA-CA2D-7C8BCF731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CRUD operations in 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EC4A0-2C30-D45F-6BA4-F5CDB2673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59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MongoDB CRUD (Create, Read, Update, Delete) Operations Overview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1. Creating Documents</a:t>
            </a:r>
          </a:p>
          <a:p>
            <a:pPr marL="0" indent="0">
              <a:buNone/>
            </a:pPr>
            <a:r>
              <a:rPr lang="en-US" dirty="0"/>
              <a:t>a. Using insert()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b. Using update() with </a:t>
            </a:r>
            <a:r>
              <a:rPr lang="en-US" dirty="0" err="1"/>
              <a:t>upsert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B5D403-3610-BA5D-E2AF-9293840BE49D}"/>
              </a:ext>
            </a:extLst>
          </p:cNvPr>
          <p:cNvSpPr txBox="1"/>
          <p:nvPr/>
        </p:nvSpPr>
        <p:spPr>
          <a:xfrm>
            <a:off x="1235241" y="3752602"/>
            <a:ext cx="5598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db.posts.insert</a:t>
            </a:r>
            <a:r>
              <a:rPr lang="en-US" i="1" dirty="0"/>
              <a:t>({ "title": "Second Post", "user": "</a:t>
            </a:r>
            <a:r>
              <a:rPr lang="en-US" i="1" dirty="0" err="1"/>
              <a:t>alice</a:t>
            </a:r>
            <a:r>
              <a:rPr lang="en-US" i="1" dirty="0"/>
              <a:t>" })</a:t>
            </a:r>
          </a:p>
          <a:p>
            <a:endParaRPr 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7A7AD-A08D-6351-F7D7-BF991A697567}"/>
              </a:ext>
            </a:extLst>
          </p:cNvPr>
          <p:cNvSpPr txBox="1"/>
          <p:nvPr/>
        </p:nvSpPr>
        <p:spPr>
          <a:xfrm>
            <a:off x="1235241" y="4738549"/>
            <a:ext cx="55986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db.posts.update</a:t>
            </a:r>
            <a:r>
              <a:rPr lang="en-US" i="1" dirty="0"/>
              <a:t>(</a:t>
            </a:r>
          </a:p>
          <a:p>
            <a:r>
              <a:rPr lang="en-US" i="1" dirty="0"/>
              <a:t>  { "user": "</a:t>
            </a:r>
            <a:r>
              <a:rPr lang="en-US" i="1" dirty="0" err="1"/>
              <a:t>alice</a:t>
            </a:r>
            <a:r>
              <a:rPr lang="en-US" i="1" dirty="0"/>
              <a:t>" },</a:t>
            </a:r>
          </a:p>
          <a:p>
            <a:r>
              <a:rPr lang="en-US" i="1" dirty="0"/>
              <a:t>  { "title": "Second Post", "user": "</a:t>
            </a:r>
            <a:r>
              <a:rPr lang="en-US" i="1" dirty="0" err="1"/>
              <a:t>alice</a:t>
            </a:r>
            <a:r>
              <a:rPr lang="en-US" i="1" dirty="0"/>
              <a:t>" },</a:t>
            </a:r>
          </a:p>
          <a:p>
            <a:r>
              <a:rPr lang="en-US" i="1" dirty="0"/>
              <a:t>  { </a:t>
            </a:r>
            <a:r>
              <a:rPr lang="en-US" i="1" dirty="0" err="1"/>
              <a:t>upsert</a:t>
            </a:r>
            <a:r>
              <a:rPr lang="en-US" i="1" dirty="0"/>
              <a:t>: true }</a:t>
            </a:r>
          </a:p>
          <a:p>
            <a:r>
              <a:rPr lang="en-US" i="1" dirty="0"/>
              <a:t>)</a:t>
            </a:r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74102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134E1-3804-2394-D43F-745F60BA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0034F-EF6B-3320-91ED-66706717F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3979"/>
            <a:ext cx="10515599" cy="5288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c. Using save()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2. Reading Documents</a:t>
            </a:r>
          </a:p>
          <a:p>
            <a:pPr marL="0" indent="0">
              <a:buNone/>
            </a:pPr>
            <a:r>
              <a:rPr lang="en-US" dirty="0"/>
              <a:t>a. Find all documents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b. Find using equality condition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c. Using query operators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840977-C6D9-5BF8-C863-42F6D36BB4B5}"/>
              </a:ext>
            </a:extLst>
          </p:cNvPr>
          <p:cNvSpPr txBox="1"/>
          <p:nvPr/>
        </p:nvSpPr>
        <p:spPr>
          <a:xfrm>
            <a:off x="1235240" y="1298160"/>
            <a:ext cx="6079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db.posts.save</a:t>
            </a:r>
            <a:r>
              <a:rPr lang="en-US" i="1" dirty="0"/>
              <a:t>({ "title": "Second Post", "user": "</a:t>
            </a:r>
            <a:r>
              <a:rPr lang="en-US" i="1" dirty="0" err="1"/>
              <a:t>alice</a:t>
            </a:r>
            <a:r>
              <a:rPr lang="en-US" i="1" dirty="0"/>
              <a:t>" })</a:t>
            </a:r>
          </a:p>
          <a:p>
            <a:endParaRPr lang="en-US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65B362-32FE-A17C-0100-90317FE63A51}"/>
              </a:ext>
            </a:extLst>
          </p:cNvPr>
          <p:cNvSpPr txBox="1"/>
          <p:nvPr/>
        </p:nvSpPr>
        <p:spPr>
          <a:xfrm>
            <a:off x="1235240" y="3314390"/>
            <a:ext cx="6079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db.posts.find</a:t>
            </a:r>
            <a:r>
              <a:rPr lang="en-US" i="1" dirty="0"/>
              <a:t>()</a:t>
            </a:r>
          </a:p>
          <a:p>
            <a:r>
              <a:rPr lang="en-US" i="1" dirty="0"/>
              <a:t>// or</a:t>
            </a:r>
          </a:p>
          <a:p>
            <a:r>
              <a:rPr lang="en-US" i="1" dirty="0" err="1"/>
              <a:t>db.posts.find</a:t>
            </a:r>
            <a:r>
              <a:rPr lang="en-US" i="1" dirty="0"/>
              <a:t>({})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CD25B7-B713-9C26-22A6-20433E12B3EC}"/>
              </a:ext>
            </a:extLst>
          </p:cNvPr>
          <p:cNvSpPr txBox="1"/>
          <p:nvPr/>
        </p:nvSpPr>
        <p:spPr>
          <a:xfrm>
            <a:off x="1235240" y="4781901"/>
            <a:ext cx="6079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db.posts.find</a:t>
            </a:r>
            <a:r>
              <a:rPr lang="en-US" i="1" dirty="0"/>
              <a:t>({ "user": "</a:t>
            </a:r>
            <a:r>
              <a:rPr lang="en-US" i="1" dirty="0" err="1"/>
              <a:t>alice</a:t>
            </a:r>
            <a:r>
              <a:rPr lang="en-US" i="1" dirty="0"/>
              <a:t>" })</a:t>
            </a:r>
          </a:p>
          <a:p>
            <a:endParaRPr lang="en-US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E02A05-11E9-3DB2-D698-37536E1010E0}"/>
              </a:ext>
            </a:extLst>
          </p:cNvPr>
          <p:cNvSpPr txBox="1"/>
          <p:nvPr/>
        </p:nvSpPr>
        <p:spPr>
          <a:xfrm>
            <a:off x="1235240" y="5939876"/>
            <a:ext cx="6079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db.posts.find</a:t>
            </a:r>
            <a:r>
              <a:rPr lang="en-US" i="1" dirty="0"/>
              <a:t>({ "user": { $in: ["</a:t>
            </a:r>
            <a:r>
              <a:rPr lang="en-US" i="1" dirty="0" err="1"/>
              <a:t>alice</a:t>
            </a:r>
            <a:r>
              <a:rPr lang="en-US" i="1" dirty="0"/>
              <a:t>", "bob"] } })</a:t>
            </a:r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971289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01047-6FA2-B1CF-DB70-181442CFE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4EBE9-7C76-8241-8A7D-D67891B99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5433"/>
            <a:ext cx="10515599" cy="57751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d. Building AND/OR queries</a:t>
            </a:r>
          </a:p>
          <a:p>
            <a:pPr marL="0" indent="0">
              <a:buNone/>
            </a:pPr>
            <a:r>
              <a:rPr lang="en-US" dirty="0"/>
              <a:t>     AND query → multiple conditions in one object: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OR query → use $or operator: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3. Updating Documents</a:t>
            </a:r>
          </a:p>
          <a:p>
            <a:pPr marL="0" indent="0">
              <a:buNone/>
            </a:pPr>
            <a:r>
              <a:rPr lang="en-US" dirty="0"/>
              <a:t>a. Using update()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b. Using save()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6CB375-AC19-2739-FFBB-958CB457AB2B}"/>
              </a:ext>
            </a:extLst>
          </p:cNvPr>
          <p:cNvSpPr txBox="1"/>
          <p:nvPr/>
        </p:nvSpPr>
        <p:spPr>
          <a:xfrm>
            <a:off x="1235240" y="1496455"/>
            <a:ext cx="6079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db.posts.find</a:t>
            </a:r>
            <a:r>
              <a:rPr lang="en-US" i="1" dirty="0"/>
              <a:t>({ "user": "</a:t>
            </a:r>
            <a:r>
              <a:rPr lang="en-US" i="1" dirty="0" err="1"/>
              <a:t>alice</a:t>
            </a:r>
            <a:r>
              <a:rPr lang="en-US" i="1" dirty="0"/>
              <a:t>", "</a:t>
            </a:r>
            <a:r>
              <a:rPr lang="en-US" i="1" dirty="0" err="1"/>
              <a:t>commentsCount</a:t>
            </a:r>
            <a:r>
              <a:rPr lang="en-US" i="1" dirty="0"/>
              <a:t>": { $</a:t>
            </a:r>
            <a:r>
              <a:rPr lang="en-US" i="1" dirty="0" err="1"/>
              <a:t>gt</a:t>
            </a:r>
            <a:r>
              <a:rPr lang="en-US" i="1" dirty="0"/>
              <a:t>: 10 } })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3F8EE3-B6AB-2D3E-CCD5-41ABE3D79FA5}"/>
              </a:ext>
            </a:extLst>
          </p:cNvPr>
          <p:cNvSpPr txBox="1"/>
          <p:nvPr/>
        </p:nvSpPr>
        <p:spPr>
          <a:xfrm>
            <a:off x="1235240" y="2519009"/>
            <a:ext cx="6079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db.posts.find</a:t>
            </a:r>
            <a:r>
              <a:rPr lang="en-US" i="1" dirty="0"/>
              <a:t>({ $or: [{ "user": "</a:t>
            </a:r>
            <a:r>
              <a:rPr lang="en-US" i="1" dirty="0" err="1"/>
              <a:t>alice</a:t>
            </a:r>
            <a:r>
              <a:rPr lang="en-US" i="1" dirty="0"/>
              <a:t>" }, { "user": "bob" }] })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092585-6607-4251-3C97-DE8A6960AD63}"/>
              </a:ext>
            </a:extLst>
          </p:cNvPr>
          <p:cNvSpPr txBox="1"/>
          <p:nvPr/>
        </p:nvSpPr>
        <p:spPr>
          <a:xfrm>
            <a:off x="3593429" y="3620557"/>
            <a:ext cx="60799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db.posts.update</a:t>
            </a:r>
            <a:r>
              <a:rPr lang="en-US" i="1" dirty="0"/>
              <a:t>(</a:t>
            </a:r>
          </a:p>
          <a:p>
            <a:r>
              <a:rPr lang="en-US" i="1" dirty="0"/>
              <a:t>  { "user": "</a:t>
            </a:r>
            <a:r>
              <a:rPr lang="en-US" i="1" dirty="0" err="1"/>
              <a:t>alice</a:t>
            </a:r>
            <a:r>
              <a:rPr lang="en-US" i="1" dirty="0"/>
              <a:t>" },            // filter</a:t>
            </a:r>
          </a:p>
          <a:p>
            <a:r>
              <a:rPr lang="en-US" i="1" dirty="0"/>
              <a:t>  { $set: { "title": "Second Post" } },  // update</a:t>
            </a:r>
          </a:p>
          <a:p>
            <a:r>
              <a:rPr lang="en-US" i="1" dirty="0"/>
              <a:t>  { multi: true }                 // update multiple docs</a:t>
            </a:r>
          </a:p>
          <a:p>
            <a:r>
              <a:rPr lang="en-US" i="1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28ADE3-E1E9-8FEB-4E64-9D254175E043}"/>
              </a:ext>
            </a:extLst>
          </p:cNvPr>
          <p:cNvSpPr txBox="1"/>
          <p:nvPr/>
        </p:nvSpPr>
        <p:spPr>
          <a:xfrm>
            <a:off x="3593429" y="5224801"/>
            <a:ext cx="60799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db.posts.save</a:t>
            </a:r>
            <a:r>
              <a:rPr lang="en-US" i="1" dirty="0"/>
              <a:t>({</a:t>
            </a:r>
          </a:p>
          <a:p>
            <a:r>
              <a:rPr lang="en-US" i="1" dirty="0"/>
              <a:t>  "_id": </a:t>
            </a:r>
            <a:r>
              <a:rPr lang="en-US" i="1" dirty="0" err="1"/>
              <a:t>ObjectId</a:t>
            </a:r>
            <a:r>
              <a:rPr lang="en-US" i="1" dirty="0"/>
              <a:t>("50691737d386d8fadbd6b01d"),</a:t>
            </a:r>
          </a:p>
          <a:p>
            <a:r>
              <a:rPr lang="en-US" i="1" dirty="0"/>
              <a:t>  "title": "Second Post",</a:t>
            </a:r>
          </a:p>
          <a:p>
            <a:r>
              <a:rPr lang="en-US" i="1" dirty="0"/>
              <a:t>  "user": "</a:t>
            </a:r>
            <a:r>
              <a:rPr lang="en-US" i="1" dirty="0" err="1"/>
              <a:t>alice</a:t>
            </a:r>
            <a:r>
              <a:rPr lang="en-US" i="1" dirty="0"/>
              <a:t>"</a:t>
            </a:r>
          </a:p>
          <a:p>
            <a:r>
              <a:rPr lang="en-US" i="1" dirty="0"/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1862574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00F4B-9093-2B2A-76A3-4131FD03E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EB04F-5DF3-8892-0D49-CDA7DA3FB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737" y="1187115"/>
            <a:ext cx="10311062" cy="51334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Deleting Documents</a:t>
            </a:r>
          </a:p>
          <a:p>
            <a:pPr marL="0" indent="0">
              <a:buNone/>
            </a:pPr>
            <a:r>
              <a:rPr lang="en-US" dirty="0"/>
              <a:t>a. Delete all documents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b. Delete multiple matching documents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c. Delete a single document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D69B89-48E6-F624-B396-EFA747B3C864}"/>
              </a:ext>
            </a:extLst>
          </p:cNvPr>
          <p:cNvSpPr txBox="1"/>
          <p:nvPr/>
        </p:nvSpPr>
        <p:spPr>
          <a:xfrm>
            <a:off x="1347531" y="4154646"/>
            <a:ext cx="6079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db.posts.remove</a:t>
            </a:r>
            <a:r>
              <a:rPr lang="en-US" i="1" dirty="0"/>
              <a:t>({ "user": "</a:t>
            </a:r>
            <a:r>
              <a:rPr lang="en-US" i="1" dirty="0" err="1"/>
              <a:t>alice</a:t>
            </a:r>
            <a:r>
              <a:rPr lang="en-US" i="1" dirty="0"/>
              <a:t>" }, true)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3D783-73D3-53C4-03A6-C8BDDA67D369}"/>
              </a:ext>
            </a:extLst>
          </p:cNvPr>
          <p:cNvSpPr txBox="1"/>
          <p:nvPr/>
        </p:nvSpPr>
        <p:spPr>
          <a:xfrm>
            <a:off x="1347531" y="2149357"/>
            <a:ext cx="6079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db.posts.remove</a:t>
            </a:r>
            <a:r>
              <a:rPr lang="en-US" i="1" dirty="0"/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0267C7-4D12-11DD-F006-8CE7F5BDB5EE}"/>
              </a:ext>
            </a:extLst>
          </p:cNvPr>
          <p:cNvSpPr txBox="1"/>
          <p:nvPr/>
        </p:nvSpPr>
        <p:spPr>
          <a:xfrm>
            <a:off x="1347531" y="3111599"/>
            <a:ext cx="6079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db.posts.remove</a:t>
            </a:r>
            <a:r>
              <a:rPr lang="en-US" i="1" dirty="0"/>
              <a:t>({ "user": "</a:t>
            </a:r>
            <a:r>
              <a:rPr lang="en-US" i="1" dirty="0" err="1"/>
              <a:t>alice</a:t>
            </a:r>
            <a:r>
              <a:rPr lang="en-US" i="1" dirty="0"/>
              <a:t>" })</a:t>
            </a:r>
          </a:p>
        </p:txBody>
      </p:sp>
    </p:spTree>
    <p:extLst>
      <p:ext uri="{BB962C8B-B14F-4D97-AF65-F5344CB8AC3E}">
        <p14:creationId xmlns:p14="http://schemas.microsoft.com/office/powerpoint/2010/main" val="794839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355C0-7C77-FC3D-45C2-2E204BC04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B8EEF-3BBD-FB14-349E-13D0929E3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7958" y="1090863"/>
            <a:ext cx="9015663" cy="5229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Summary Table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AF9A58-2331-F21B-68B8-BF57C3C17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023214"/>
              </p:ext>
            </p:extLst>
          </p:nvPr>
        </p:nvGraphicFramePr>
        <p:xfrm>
          <a:off x="1507958" y="2103120"/>
          <a:ext cx="8386011" cy="2651760"/>
        </p:xfrm>
        <a:graphic>
          <a:graphicData uri="http://schemas.openxmlformats.org/drawingml/2006/table">
            <a:tbl>
              <a:tblPr/>
              <a:tblGrid>
                <a:gridCol w="2795337">
                  <a:extLst>
                    <a:ext uri="{9D8B030D-6E8A-4147-A177-3AD203B41FA5}">
                      <a16:colId xmlns:a16="http://schemas.microsoft.com/office/drawing/2014/main" val="2354844434"/>
                    </a:ext>
                  </a:extLst>
                </a:gridCol>
                <a:gridCol w="2795337">
                  <a:extLst>
                    <a:ext uri="{9D8B030D-6E8A-4147-A177-3AD203B41FA5}">
                      <a16:colId xmlns:a16="http://schemas.microsoft.com/office/drawing/2014/main" val="1644428705"/>
                    </a:ext>
                  </a:extLst>
                </a:gridCol>
                <a:gridCol w="2795337">
                  <a:extLst>
                    <a:ext uri="{9D8B030D-6E8A-4147-A177-3AD203B41FA5}">
                      <a16:colId xmlns:a16="http://schemas.microsoft.com/office/drawing/2014/main" val="8264891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290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Create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insert()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update(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upsert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save()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Adds new documents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338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Read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find()</a:t>
                      </a:r>
                      <a:r>
                        <a:rPr lang="en-US"/>
                        <a:t>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find({})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Retrieves documents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838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Update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update()</a:t>
                      </a:r>
                      <a:r>
                        <a:rPr lang="en-US"/>
                        <a:t>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save()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Modifies existing documents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723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Delete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remove()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Deletes documents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602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479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C6288-7A0F-41E9-C90B-1DEF08611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8AB98-1543-6D77-3EA1-A107B6814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and Querying in MongoDB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E52D58-BDD3-B62E-F281-F8C1E692D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690688"/>
            <a:ext cx="10515601" cy="4918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MongoDB Indexing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Indexes are special data structures that improve query performance.</a:t>
            </a:r>
          </a:p>
          <a:p>
            <a:r>
              <a:rPr lang="en-US" dirty="0"/>
              <a:t>Without indexes, MongoDB must scan the entire collection to find matching documents.</a:t>
            </a:r>
          </a:p>
          <a:p>
            <a:r>
              <a:rPr lang="en-US" dirty="0"/>
              <a:t>With indexes, MongoDB can directly locate matching documents efficiently.</a:t>
            </a:r>
          </a:p>
          <a:p>
            <a:r>
              <a:rPr lang="en-US" dirty="0"/>
              <a:t>Without an index → MongoDB checks every document.</a:t>
            </a:r>
          </a:p>
          <a:p>
            <a:r>
              <a:rPr lang="en-US" dirty="0"/>
              <a:t>With an index on </a:t>
            </a:r>
            <a:r>
              <a:rPr lang="en-US" dirty="0" err="1"/>
              <a:t>commentsCount</a:t>
            </a:r>
            <a:r>
              <a:rPr lang="en-US" dirty="0"/>
              <a:t> → MongoDB quickly retrieves documents where the count &gt; 10.</a:t>
            </a:r>
          </a:p>
        </p:txBody>
      </p:sp>
    </p:spTree>
    <p:extLst>
      <p:ext uri="{BB962C8B-B14F-4D97-AF65-F5344CB8AC3E}">
        <p14:creationId xmlns:p14="http://schemas.microsoft.com/office/powerpoint/2010/main" val="2963228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6BC69-2250-2208-DEEA-8B6CB015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37DD1F-2DDE-61B5-1B01-6DCC38C5B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72876"/>
            <a:ext cx="10515601" cy="62878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Ad Hoc Queries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MongoDB supports dynamic (ad hoc) queries, similar to SQL’s flexibility.</a:t>
            </a:r>
          </a:p>
          <a:p>
            <a:r>
              <a:rPr lang="en-US" dirty="0"/>
              <a:t>Unlike key-value stores (which only query by key), MongoDB allows complex and dynamic queries without predefined structures.</a:t>
            </a:r>
          </a:p>
          <a:p>
            <a:r>
              <a:rPr lang="en-US" dirty="0"/>
              <a:t>Queries are performed on BSON documents using MongoDB’s own query language.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Advantage → Can query on any field, not just keys.</a:t>
            </a:r>
          </a:p>
          <a:p>
            <a:r>
              <a:rPr lang="en-US" dirty="0"/>
              <a:t>Drawback (without indexing) → Full collection scans cause slow performance on large datasets.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1F7CC-16EF-B0AA-4E81-80B62CA7EAA7}"/>
              </a:ext>
            </a:extLst>
          </p:cNvPr>
          <p:cNvSpPr txBox="1"/>
          <p:nvPr/>
        </p:nvSpPr>
        <p:spPr>
          <a:xfrm>
            <a:off x="3647687" y="3429000"/>
            <a:ext cx="51174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SELECT * FROM Posts WHERE Title LIKE '%mongo%’;</a:t>
            </a:r>
          </a:p>
          <a:p>
            <a:endParaRPr lang="en-US" i="1" dirty="0"/>
          </a:p>
          <a:p>
            <a:r>
              <a:rPr lang="en-US" sz="2400" dirty="0"/>
              <a:t>Equivalent in MongoDB:</a:t>
            </a:r>
          </a:p>
          <a:p>
            <a:endParaRPr lang="en-US" i="1" dirty="0"/>
          </a:p>
          <a:p>
            <a:r>
              <a:rPr lang="en-US" i="1" dirty="0" err="1"/>
              <a:t>db.posts.find</a:t>
            </a:r>
            <a:r>
              <a:rPr lang="en-US" i="1" dirty="0"/>
              <a:t>({ title: /mongo/ });</a:t>
            </a:r>
          </a:p>
        </p:txBody>
      </p:sp>
    </p:spTree>
    <p:extLst>
      <p:ext uri="{BB962C8B-B14F-4D97-AF65-F5344CB8AC3E}">
        <p14:creationId xmlns:p14="http://schemas.microsoft.com/office/powerpoint/2010/main" val="6667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DF791-395C-9B8D-444F-843470B54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AA30AC-E69A-B238-3A79-FFBD07160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72876"/>
            <a:ext cx="10515601" cy="62878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Document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06F6D9-10DB-E3B8-D07B-E85F06BB3A3A}"/>
              </a:ext>
            </a:extLst>
          </p:cNvPr>
          <p:cNvSpPr txBox="1"/>
          <p:nvPr/>
        </p:nvSpPr>
        <p:spPr>
          <a:xfrm>
            <a:off x="1113034" y="1496998"/>
            <a:ext cx="51174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{</a:t>
            </a:r>
          </a:p>
          <a:p>
            <a:r>
              <a:rPr lang="en-US" i="1" dirty="0"/>
              <a:t>  "_id": </a:t>
            </a:r>
            <a:r>
              <a:rPr lang="en-US" i="1" dirty="0" err="1"/>
              <a:t>ObjectId</a:t>
            </a:r>
            <a:r>
              <a:rPr lang="en-US" i="1" dirty="0"/>
              <a:t>("52d02240e4b01d67d71ad577"),</a:t>
            </a:r>
          </a:p>
          <a:p>
            <a:r>
              <a:rPr lang="en-US" i="1" dirty="0"/>
              <a:t>  "title": "First Blog Post",</a:t>
            </a:r>
          </a:p>
          <a:p>
            <a:r>
              <a:rPr lang="en-US" i="1" dirty="0"/>
              <a:t>  "comments": [],</a:t>
            </a:r>
          </a:p>
          <a:p>
            <a:r>
              <a:rPr lang="en-US" i="1" dirty="0"/>
              <a:t>  "</a:t>
            </a:r>
            <a:r>
              <a:rPr lang="en-US" i="1" dirty="0" err="1"/>
              <a:t>commentsCount</a:t>
            </a:r>
            <a:r>
              <a:rPr lang="en-US" i="1" dirty="0"/>
              <a:t>": 12</a:t>
            </a:r>
          </a:p>
          <a:p>
            <a:r>
              <a:rPr lang="en-US" i="1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5C5E06-A2AF-9214-9742-2509AD9A9AE7}"/>
              </a:ext>
            </a:extLst>
          </p:cNvPr>
          <p:cNvSpPr txBox="1"/>
          <p:nvPr/>
        </p:nvSpPr>
        <p:spPr>
          <a:xfrm>
            <a:off x="1113034" y="4586717"/>
            <a:ext cx="5117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db.posts.find</a:t>
            </a:r>
            <a:r>
              <a:rPr lang="en-US" i="1" dirty="0"/>
              <a:t>({ </a:t>
            </a:r>
            <a:r>
              <a:rPr lang="en-US" i="1" dirty="0" err="1"/>
              <a:t>commentsCount</a:t>
            </a:r>
            <a:r>
              <a:rPr lang="en-US" i="1" dirty="0"/>
              <a:t>: { $</a:t>
            </a:r>
            <a:r>
              <a:rPr lang="en-US" i="1" dirty="0" err="1"/>
              <a:t>gt</a:t>
            </a:r>
            <a:r>
              <a:rPr lang="en-US" i="1" dirty="0"/>
              <a:t>: 10 } })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007841-E865-6C99-B007-34279F825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196" y="1577749"/>
            <a:ext cx="5681439" cy="387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062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731F3-CE73-34E7-85B8-C5F0F85A8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3E3C4-DB02-AD16-25F6-CAEC496CA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design and data modeling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74DD41-C11C-9930-81EB-BCC269608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690688"/>
            <a:ext cx="10515601" cy="49186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MongoDB Replica Set (Data Redundancy &amp; High Availability)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A replica set = group of MongoDB servers hosting the same dataset.</a:t>
            </a:r>
          </a:p>
          <a:p>
            <a:r>
              <a:rPr lang="en-US" dirty="0"/>
              <a:t>Primary node → handles all write operations.</a:t>
            </a:r>
          </a:p>
          <a:p>
            <a:r>
              <a:rPr lang="en-US" dirty="0"/>
              <a:t>Secondary nodes → replicate data from primary and can serve read operations.</a:t>
            </a:r>
          </a:p>
          <a:p>
            <a:r>
              <a:rPr lang="en-US" dirty="0"/>
              <a:t>Ensures data redundancy and fault tolerance.</a:t>
            </a:r>
          </a:p>
          <a:p>
            <a:r>
              <a:rPr lang="en-US" dirty="0"/>
              <a:t>Automatic failover:</a:t>
            </a:r>
          </a:p>
          <a:p>
            <a:pPr lvl="1"/>
            <a:r>
              <a:rPr lang="en-US" dirty="0"/>
              <a:t>If the primary is unreachable for &gt;10 </a:t>
            </a:r>
            <a:r>
              <a:rPr lang="en-US" dirty="0" err="1"/>
              <a:t>seconds,a</a:t>
            </a:r>
            <a:r>
              <a:rPr lang="en-US" dirty="0"/>
              <a:t> secondary is automatically promoted to primary.</a:t>
            </a:r>
          </a:p>
          <a:p>
            <a:r>
              <a:rPr lang="en-US" dirty="0"/>
              <a:t>When the old primary rejoins, it becomes a secondary again.</a:t>
            </a:r>
          </a:p>
          <a:p>
            <a:r>
              <a:rPr lang="en-US" dirty="0"/>
              <a:t>Improves data safety, availability, and read scalability.</a:t>
            </a:r>
          </a:p>
        </p:txBody>
      </p:sp>
    </p:spTree>
    <p:extLst>
      <p:ext uri="{BB962C8B-B14F-4D97-AF65-F5344CB8AC3E}">
        <p14:creationId xmlns:p14="http://schemas.microsoft.com/office/powerpoint/2010/main" val="450425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33175-F2E8-5D25-8D3C-E9405524B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ED98FC-8B78-2F27-D241-887B5C1D0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385012"/>
            <a:ext cx="10515601" cy="62243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MongoDB Sharding (Horizontal Scaling)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Scaling problem: as data grows, one machine cannot handle all operations efficiently.</a:t>
            </a:r>
          </a:p>
          <a:p>
            <a:r>
              <a:rPr lang="en-US" dirty="0"/>
              <a:t>Two approaches:</a:t>
            </a:r>
          </a:p>
          <a:p>
            <a:pPr lvl="1"/>
            <a:r>
              <a:rPr lang="en-US" dirty="0"/>
              <a:t>Vertical scaling: upgrade single machine (CPU, RAM) → limited and expensive.</a:t>
            </a:r>
          </a:p>
          <a:p>
            <a:pPr lvl="1"/>
            <a:r>
              <a:rPr lang="en-US" dirty="0"/>
              <a:t>Horizontal scaling: distribute load across multiple machines.</a:t>
            </a:r>
          </a:p>
          <a:p>
            <a:r>
              <a:rPr lang="en-US" dirty="0"/>
              <a:t>Sharding = horizontal scaling in MongoDB.</a:t>
            </a:r>
          </a:p>
          <a:p>
            <a:r>
              <a:rPr lang="en-US" dirty="0"/>
              <a:t>Data is divided into shards (each shard stores part of the dataset).</a:t>
            </a:r>
          </a:p>
          <a:p>
            <a:r>
              <a:rPr lang="en-US" dirty="0"/>
              <a:t>Together, all shards act as a single logical database.</a:t>
            </a:r>
          </a:p>
          <a:p>
            <a:r>
              <a:rPr lang="en-US" dirty="0"/>
              <a:t>Query routers and configuration servers handle routing of queries to correct shards.</a:t>
            </a:r>
          </a:p>
          <a:p>
            <a:r>
              <a:rPr lang="en-US" dirty="0"/>
              <a:t>Benefits: handles large-scale data, increases performance, and distributes workload.</a:t>
            </a:r>
          </a:p>
        </p:txBody>
      </p:sp>
    </p:spTree>
    <p:extLst>
      <p:ext uri="{BB962C8B-B14F-4D97-AF65-F5344CB8AC3E}">
        <p14:creationId xmlns:p14="http://schemas.microsoft.com/office/powerpoint/2010/main" val="2694771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2429C-0862-15FC-A235-1D25AF82A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572656-9F80-9CF1-D193-8121A587A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010652"/>
            <a:ext cx="10515601" cy="55986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MongoDB Shell (Command-Line Interface)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A JavaScript-based CLI used to interact with MongoDB.</a:t>
            </a:r>
          </a:p>
          <a:p>
            <a:r>
              <a:rPr lang="en-US" dirty="0"/>
              <a:t>Start shell:</a:t>
            </a:r>
          </a:p>
          <a:p>
            <a:r>
              <a:rPr lang="en-US" dirty="0"/>
              <a:t>Connects to default test database automatically.</a:t>
            </a:r>
          </a:p>
          <a:p>
            <a:r>
              <a:rPr lang="en-US" dirty="0"/>
              <a:t>Use a specific database:</a:t>
            </a:r>
          </a:p>
          <a:p>
            <a:r>
              <a:rPr lang="en-US" dirty="0"/>
              <a:t>Databases and collections are created lazily when the first document is inserted.</a:t>
            </a:r>
          </a:p>
          <a:p>
            <a:r>
              <a:rPr lang="en-US" dirty="0"/>
              <a:t>List databases: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68F76C-FA78-0ACE-917C-CC6C9D48C0F2}"/>
              </a:ext>
            </a:extLst>
          </p:cNvPr>
          <p:cNvSpPr txBox="1"/>
          <p:nvPr/>
        </p:nvSpPr>
        <p:spPr>
          <a:xfrm>
            <a:off x="2775285" y="2578769"/>
            <a:ext cx="2630905" cy="36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$ mongo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F2E948-DBB2-7A43-4DB3-B00F6077D010}"/>
              </a:ext>
            </a:extLst>
          </p:cNvPr>
          <p:cNvSpPr txBox="1"/>
          <p:nvPr/>
        </p:nvSpPr>
        <p:spPr>
          <a:xfrm>
            <a:off x="4780544" y="3625515"/>
            <a:ext cx="2630905" cy="36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&gt; use mean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49F835-53E9-6BA8-A936-A86F0387462E}"/>
              </a:ext>
            </a:extLst>
          </p:cNvPr>
          <p:cNvSpPr txBox="1"/>
          <p:nvPr/>
        </p:nvSpPr>
        <p:spPr>
          <a:xfrm>
            <a:off x="3465091" y="5117431"/>
            <a:ext cx="2630905" cy="36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&gt; show </a:t>
            </a:r>
            <a:r>
              <a:rPr lang="en-US" i="1" dirty="0" err="1"/>
              <a:t>dbs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806565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9A897-2673-3A46-7007-E3686014F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397409-69B9-084C-7B8B-7368B356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208548"/>
            <a:ext cx="10515601" cy="640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MongoDB Databases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Each MongoDB server can hold multiple databases.</a:t>
            </a:r>
          </a:p>
          <a:p>
            <a:r>
              <a:rPr lang="en-US" dirty="0"/>
              <a:t>Databases are lightweight and auto-created when data is inserted.</a:t>
            </a:r>
          </a:p>
          <a:p>
            <a:pPr marL="0" indent="0">
              <a:buNone/>
            </a:pPr>
            <a:r>
              <a:rPr lang="en-US" dirty="0"/>
              <a:t>→ connects directly to the mean database.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MongoDB Collections</a:t>
            </a:r>
          </a:p>
          <a:p>
            <a:r>
              <a:rPr lang="en-US" dirty="0"/>
              <a:t>A collection = equivalent of a table in relational databases.</a:t>
            </a:r>
          </a:p>
          <a:p>
            <a:r>
              <a:rPr lang="en-US" dirty="0"/>
              <a:t>Created automatically when the first document is inserted.</a:t>
            </a:r>
          </a:p>
          <a:p>
            <a:r>
              <a:rPr lang="en-US" dirty="0"/>
              <a:t>Collections are schema-less — can store different document structures.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5F216-758D-BAC9-84AE-0FBA4BFD71B4}"/>
              </a:ext>
            </a:extLst>
          </p:cNvPr>
          <p:cNvSpPr txBox="1"/>
          <p:nvPr/>
        </p:nvSpPr>
        <p:spPr>
          <a:xfrm>
            <a:off x="7571874" y="2326105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$ mongo mean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E5744D-46DE-B666-12E7-61D7C21B0834}"/>
              </a:ext>
            </a:extLst>
          </p:cNvPr>
          <p:cNvSpPr txBox="1"/>
          <p:nvPr/>
        </p:nvSpPr>
        <p:spPr>
          <a:xfrm>
            <a:off x="1082842" y="5706234"/>
            <a:ext cx="5590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&gt; </a:t>
            </a:r>
            <a:r>
              <a:rPr lang="en-US" i="1" dirty="0" err="1"/>
              <a:t>db.posts.insert</a:t>
            </a:r>
            <a:r>
              <a:rPr lang="en-US" i="1" dirty="0"/>
              <a:t>({"title": "First Post", "user": "bob"})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5BF7F4-7EE8-6744-FB52-95F5DB095682}"/>
              </a:ext>
            </a:extLst>
          </p:cNvPr>
          <p:cNvSpPr txBox="1"/>
          <p:nvPr/>
        </p:nvSpPr>
        <p:spPr>
          <a:xfrm>
            <a:off x="6910137" y="5306125"/>
            <a:ext cx="559067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Retrieve all documents:</a:t>
            </a:r>
          </a:p>
          <a:p>
            <a:r>
              <a:rPr lang="en-US" i="1" dirty="0"/>
              <a:t>&gt; </a:t>
            </a:r>
            <a:r>
              <a:rPr lang="en-US" i="1" dirty="0" err="1"/>
              <a:t>db.posts.find</a:t>
            </a:r>
            <a:r>
              <a:rPr lang="en-US" i="1" dirty="0"/>
              <a:t>()</a:t>
            </a:r>
          </a:p>
          <a:p>
            <a:endParaRPr lang="en-US" i="1" dirty="0"/>
          </a:p>
          <a:p>
            <a:r>
              <a:rPr lang="en-US" sz="2000" dirty="0"/>
              <a:t>List all collections:</a:t>
            </a:r>
          </a:p>
          <a:p>
            <a:r>
              <a:rPr lang="en-US" i="1" dirty="0"/>
              <a:t>&gt; show collections</a:t>
            </a:r>
          </a:p>
          <a:p>
            <a:endParaRPr lang="en-US" i="1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F7842B-26E3-B52D-9440-BDC0F87B9EF7}"/>
              </a:ext>
            </a:extLst>
          </p:cNvPr>
          <p:cNvSpPr txBox="1"/>
          <p:nvPr/>
        </p:nvSpPr>
        <p:spPr>
          <a:xfrm>
            <a:off x="1078831" y="6141620"/>
            <a:ext cx="55906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Delete a collection:</a:t>
            </a:r>
          </a:p>
          <a:p>
            <a:r>
              <a:rPr lang="en-US" sz="2000" i="1" dirty="0"/>
              <a:t>&gt; </a:t>
            </a:r>
            <a:r>
              <a:rPr lang="en-US" sz="2000" i="1" dirty="0" err="1"/>
              <a:t>db.posts.drop</a:t>
            </a:r>
            <a:r>
              <a:rPr lang="en-US" sz="2000" i="1" dirty="0"/>
              <a:t>()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36783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1322</Words>
  <Application>Microsoft Office PowerPoint</Application>
  <PresentationFormat>Widescreen</PresentationFormat>
  <Paragraphs>215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Office Theme</vt:lpstr>
      <vt:lpstr>MongoDB</vt:lpstr>
      <vt:lpstr> Introduction to NoSQL databases</vt:lpstr>
      <vt:lpstr>PowerPoint Presentation</vt:lpstr>
      <vt:lpstr>PowerPoint Presentation</vt:lpstr>
      <vt:lpstr> Installation and configuration of MongoDB</vt:lpstr>
      <vt:lpstr> CRUD operations in MongoDB</vt:lpstr>
      <vt:lpstr>PowerPoint Presentation</vt:lpstr>
      <vt:lpstr>PowerPoint Presentation</vt:lpstr>
      <vt:lpstr>PowerPoint Presentation</vt:lpstr>
      <vt:lpstr>PowerPoint Presentation</vt:lpstr>
      <vt:lpstr>Indexing and Querying in MongoDB</vt:lpstr>
      <vt:lpstr>PowerPoint Presentation</vt:lpstr>
      <vt:lpstr>PowerPoint Presentation</vt:lpstr>
      <vt:lpstr>Schema design and data modeling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surajkachate@outlook.com</dc:creator>
  <cp:lastModifiedBy>surajkachate@outlook.com</cp:lastModifiedBy>
  <cp:revision>4</cp:revision>
  <dcterms:created xsi:type="dcterms:W3CDTF">2025-11-03T08:41:57Z</dcterms:created>
  <dcterms:modified xsi:type="dcterms:W3CDTF">2025-11-03T15:57:26Z</dcterms:modified>
</cp:coreProperties>
</file>